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  <p:sldMasterId id="2147483748" r:id="rId2"/>
  </p:sldMasterIdLst>
  <p:notesMasterIdLst>
    <p:notesMasterId r:id="rId16"/>
  </p:notesMasterIdLst>
  <p:handoutMasterIdLst>
    <p:handoutMasterId r:id="rId17"/>
  </p:handoutMasterIdLst>
  <p:sldIdLst>
    <p:sldId id="16672310" r:id="rId3"/>
    <p:sldId id="11088818" r:id="rId4"/>
    <p:sldId id="16672242" r:id="rId5"/>
    <p:sldId id="16672301" r:id="rId6"/>
    <p:sldId id="16672303" r:id="rId7"/>
    <p:sldId id="16672302" r:id="rId8"/>
    <p:sldId id="16672304" r:id="rId9"/>
    <p:sldId id="16672306" r:id="rId10"/>
    <p:sldId id="16672307" r:id="rId11"/>
    <p:sldId id="16672308" r:id="rId12"/>
    <p:sldId id="16672305" r:id="rId13"/>
    <p:sldId id="16672309" r:id="rId14"/>
    <p:sldId id="1667229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5FFF"/>
    <a:srgbClr val="FBAD19"/>
    <a:srgbClr val="FB8F3C"/>
    <a:srgbClr val="F8A651"/>
    <a:srgbClr val="FBAD20"/>
    <a:srgbClr val="F3CA3C"/>
    <a:srgbClr val="F3CC46"/>
    <a:srgbClr val="FFF2D9"/>
    <a:srgbClr val="FFEC4A"/>
    <a:srgbClr val="FFD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06" autoAdjust="0"/>
    <p:restoredTop sz="90402"/>
  </p:normalViewPr>
  <p:slideViewPr>
    <p:cSldViewPr snapToGrid="0" snapToObjects="1" showGuides="1">
      <p:cViewPr varScale="1">
        <p:scale>
          <a:sx n="100" d="100"/>
          <a:sy n="100" d="100"/>
        </p:scale>
        <p:origin x="936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B6A7B-1B4F-1140-92A6-C6824A8D2EC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3F247-190E-8442-A6E6-7354B66410C5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76650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F4C82-C2E4-B543-8475-BD56381FBFD2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F5093F-09A4-C64B-A363-EE9B37DE08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441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8447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2003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3637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489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01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5093F-09A4-C64B-A363-EE9B37DE086C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7917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2026/1/21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929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2026/1/21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897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2026/1/21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9740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2026/1/21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75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2026/1/21</a:t>
            </a:fld>
            <a:endParaRPr kumimoji="1"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0254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2026/1/21</a:t>
            </a:fld>
            <a:endParaRPr kumimoji="1"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3792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2026/1/21</a:t>
            </a:fld>
            <a:endParaRPr kumimoji="1"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8669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2026/1/21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7763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2026/1/21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6915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2026/1/21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883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2026/1/21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2354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容页_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"/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0" i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defRPr>
            </a:lvl1pPr>
          </a:lstStyle>
          <a:p>
            <a:r>
              <a:rPr lang="zh-CN" altLang="en-US" noProof="0" dirty="0"/>
              <a:t> </a:t>
            </a:r>
            <a:endParaRPr lang="en-GB" noProof="0" dirty="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62753"/>
            <a:ext cx="12192000" cy="9524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A7552B0-D389-8993-C799-593116D2FF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56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 userDrawn="1">
          <p15:clr>
            <a:srgbClr val="FBAE40"/>
          </p15:clr>
        </p15:guide>
        <p15:guide id="2" pos="143" userDrawn="1">
          <p15:clr>
            <a:srgbClr val="FBAE40"/>
          </p15:clr>
        </p15:guide>
        <p15:guide id="3" pos="753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AE617296-0E2E-CCD9-AC1B-B5BDD62768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0301" y="5676389"/>
            <a:ext cx="987667" cy="107809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6E6E2351-D5C4-59D9-A227-40A1EECED90F}"/>
              </a:ext>
            </a:extLst>
          </p:cNvPr>
          <p:cNvSpPr/>
          <p:nvPr userDrawn="1"/>
        </p:nvSpPr>
        <p:spPr>
          <a:xfrm>
            <a:off x="10733988" y="5580667"/>
            <a:ext cx="1458011" cy="1277332"/>
          </a:xfrm>
          <a:prstGeom prst="rect">
            <a:avLst/>
          </a:prstGeom>
          <a:solidFill>
            <a:schemeClr val="bg1">
              <a:alpha val="6288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A3BF3897-90D5-B0C5-5883-7CC041256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1" i="0">
                <a:solidFill>
                  <a:schemeClr val="tx1">
                    <a:lumMod val="75000"/>
                    <a:lumOff val="25000"/>
                  </a:schemeClr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defRPr>
            </a:lvl1pPr>
          </a:lstStyle>
          <a:p>
            <a:endParaRPr lang="en-GB" noProof="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5224D40-9AAF-220C-6FE0-70F6616FA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514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3E37647-56A0-6138-370C-0996361920CC}"/>
              </a:ext>
            </a:extLst>
          </p:cNvPr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BCEFB14-7C2E-9AD7-995C-5E59E23F56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0301" y="5676389"/>
            <a:ext cx="987667" cy="107809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6BEFF8C-86AC-5A69-1EBC-9CF291524251}"/>
              </a:ext>
            </a:extLst>
          </p:cNvPr>
          <p:cNvSpPr/>
          <p:nvPr userDrawn="1"/>
        </p:nvSpPr>
        <p:spPr>
          <a:xfrm>
            <a:off x="10733988" y="5580667"/>
            <a:ext cx="1458011" cy="1277332"/>
          </a:xfrm>
          <a:prstGeom prst="rect">
            <a:avLst/>
          </a:prstGeom>
          <a:solidFill>
            <a:schemeClr val="bg1">
              <a:alpha val="6288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46600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3E37647-56A0-6138-370C-0996361920CC}"/>
              </a:ext>
            </a:extLst>
          </p:cNvPr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FD0D3C05-A194-AF69-F9B0-F50DFA8A09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876"/>
          <a:stretch/>
        </p:blipFill>
        <p:spPr>
          <a:xfrm>
            <a:off x="914400" y="5022954"/>
            <a:ext cx="10363200" cy="183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90F37B8-4752-F7D2-C9AA-ABB1CAAB1473}"/>
              </a:ext>
            </a:extLst>
          </p:cNvPr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E36609A-5242-FD4D-84D0-4D86FCFB39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2581" y="1228647"/>
            <a:ext cx="6630313" cy="383031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384CA30-83E1-E7F4-A156-B5F815030CC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907399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图片 104">
            <a:extLst>
              <a:ext uri="{FF2B5EF4-FFF2-40B4-BE49-F238E27FC236}">
                <a16:creationId xmlns:a16="http://schemas.microsoft.com/office/drawing/2014/main" id="{BAB6015D-233E-4241-8110-1040500981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590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el 1"/>
          <p:cNvSpPr>
            <a:spLocks noGrp="1"/>
          </p:cNvSpPr>
          <p:nvPr>
            <p:ph type="title" hasCustomPrompt="1"/>
          </p:nvPr>
        </p:nvSpPr>
        <p:spPr>
          <a:xfrm>
            <a:off x="289281" y="235741"/>
            <a:ext cx="11568287" cy="1365673"/>
          </a:xfr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735" b="0" i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 noProof="0" dirty="0"/>
              <a:t>目录</a:t>
            </a:r>
            <a:br>
              <a:rPr lang="en-US" altLang="zh-CN" noProof="0" dirty="0"/>
            </a:br>
            <a:endParaRPr lang="en-GB" noProof="0" dirty="0"/>
          </a:p>
        </p:txBody>
      </p:sp>
      <p:sp>
        <p:nvSpPr>
          <p:cNvPr id="26" name="Inhaltsplatzhalter 2"/>
          <p:cNvSpPr>
            <a:spLocks noGrp="1"/>
          </p:cNvSpPr>
          <p:nvPr>
            <p:ph idx="16" hasCustomPrompt="1"/>
          </p:nvPr>
        </p:nvSpPr>
        <p:spPr>
          <a:xfrm>
            <a:off x="3263900" y="2592691"/>
            <a:ext cx="5664200" cy="3909711"/>
          </a:xfrm>
        </p:spPr>
        <p:txBody>
          <a:bodyPr vert="horz" lIns="0" tIns="0" rIns="0" bIns="0" rtlCol="0" anchor="t" anchorCtr="0">
            <a:noAutofit/>
          </a:bodyPr>
          <a:lstStyle>
            <a:lvl1pPr marL="304792" indent="-304792" algn="l" hangingPunct="0">
              <a:lnSpc>
                <a:spcPct val="150000"/>
              </a:lnSpc>
              <a:buFont typeface="+mj-lt"/>
              <a:buAutoNum type="arabicPeriod"/>
              <a:defRPr lang="de-DE" sz="2135" b="0" i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  <a:lvl2pPr marL="0" marR="0" indent="0" algn="l" defTabSz="914377" rtl="0" eaLnBrk="1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-"/>
              <a:defRPr lang="de-DE" sz="2135" b="0" i="0" dirty="0" smtClean="0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lnSpc>
                <a:spcPct val="125000"/>
              </a:lnSpc>
              <a:defRPr lang="de-DE" sz="1335" dirty="0" smtClean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lang="de-DE" sz="1600" dirty="0" smtClean="0"/>
            </a:lvl4pPr>
            <a:lvl5pPr>
              <a:defRPr lang="de-DE" sz="1600" dirty="0"/>
            </a:lvl5pPr>
          </a:lstStyle>
          <a:p>
            <a:pPr lvl="0"/>
            <a:r>
              <a:rPr lang="zh-CN" altLang="en-US" dirty="0"/>
              <a:t>编辑题目</a:t>
            </a:r>
            <a:r>
              <a:rPr lang="en-US" altLang="zh-CN" dirty="0"/>
              <a:t> 16pt</a:t>
            </a:r>
          </a:p>
          <a:p>
            <a:pPr lvl="0"/>
            <a:r>
              <a:rPr lang="zh-CN" altLang="en-US" dirty="0"/>
              <a:t>编辑题目</a:t>
            </a:r>
            <a:endParaRPr lang="en-US" altLang="zh-CN" dirty="0"/>
          </a:p>
          <a:p>
            <a:pPr lvl="0"/>
            <a:r>
              <a:rPr lang="zh-CN" altLang="en-US" dirty="0"/>
              <a:t>编辑题目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6732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容页_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9EC08B-1CFE-5815-BE5D-179AA42B58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1" i="0">
                <a:solidFill>
                  <a:schemeClr val="tx1">
                    <a:lumMod val="75000"/>
                    <a:lumOff val="25000"/>
                  </a:schemeClr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defRPr>
            </a:lvl1pPr>
          </a:lstStyle>
          <a:p>
            <a:endParaRPr lang="en-GB" noProof="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099092B-509C-CFC6-44B0-8C66F9FF0B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7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F2403-3A2B-7341-859C-AF9A1DF858CC}" type="datetimeFigureOut">
              <a:rPr kumimoji="1" lang="zh-CN" altLang="en-US" smtClean="0"/>
              <a:pPr/>
              <a:t>2026/1/21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3530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7E0836-9C48-F149-9263-74A632F86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BB09E2-071C-CF4C-B043-E50F0025B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332103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5" r:id="rId5"/>
    <p:sldLayoutId id="2147483753" r:id="rId6"/>
    <p:sldLayoutId id="2147483754" r:id="rId7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A92A80-677E-94D1-46CD-E11CFCBF7D3B}"/>
              </a:ext>
            </a:extLst>
          </p:cNvPr>
          <p:cNvSpPr txBox="1"/>
          <p:nvPr/>
        </p:nvSpPr>
        <p:spPr>
          <a:xfrm>
            <a:off x="1760518" y="2273300"/>
            <a:ext cx="8670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2026</a:t>
            </a:r>
            <a:r>
              <a:rPr kumimoji="1" lang="zh-CN" altLang="en-US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年中国高校计算机大赛</a:t>
            </a:r>
            <a:r>
              <a:rPr kumimoji="1" lang="en-US" altLang="zh-CN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-AIGC</a:t>
            </a:r>
            <a:r>
              <a:rPr kumimoji="1" lang="zh-CN" altLang="en-US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创新赛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D332E7-5C3E-9C6C-FFF9-D5C809B95E64}"/>
              </a:ext>
            </a:extLst>
          </p:cNvPr>
          <p:cNvSpPr txBox="1"/>
          <p:nvPr/>
        </p:nvSpPr>
        <p:spPr>
          <a:xfrm>
            <a:off x="3689349" y="3429000"/>
            <a:ext cx="4813300" cy="964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作品名称：</a:t>
            </a:r>
            <a:r>
              <a:rPr kumimoji="1" lang="en-US" altLang="zh-CN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《XXXXXXX》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团队名称：</a:t>
            </a:r>
            <a:r>
              <a:rPr kumimoji="1" lang="en-US" altLang="zh-CN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XXXXX</a:t>
            </a:r>
            <a:endParaRPr kumimoji="1" lang="zh-CN" altLang="en-US" sz="2000" b="1" dirty="0"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306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259E7A87-ECC9-0E4B-9347-BAD151C85708}"/>
              </a:ext>
            </a:extLst>
          </p:cNvPr>
          <p:cNvGrpSpPr/>
          <p:nvPr/>
        </p:nvGrpSpPr>
        <p:grpSpPr>
          <a:xfrm>
            <a:off x="4632826" y="1590672"/>
            <a:ext cx="3001691" cy="3096366"/>
            <a:chOff x="3702795" y="1590672"/>
            <a:chExt cx="3001691" cy="3096366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BEE54F6-D61D-65C4-52E6-5095B0930995}"/>
                </a:ext>
              </a:extLst>
            </p:cNvPr>
            <p:cNvSpPr txBox="1"/>
            <p:nvPr/>
          </p:nvSpPr>
          <p:spPr>
            <a:xfrm>
              <a:off x="3702799" y="1590672"/>
              <a:ext cx="591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en-US" altLang="zh-CN" sz="4000" b="1" dirty="0">
                  <a:solidFill>
                    <a:srgbClr val="446FFF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1.</a:t>
              </a:r>
              <a:endParaRPr kumimoji="1" lang="zh-CN" altLang="en-US" sz="4000" b="1" dirty="0">
                <a:solidFill>
                  <a:srgbClr val="446FFF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BCCCC51-4355-E042-A998-074A52BC3C60}"/>
                </a:ext>
              </a:extLst>
            </p:cNvPr>
            <p:cNvSpPr txBox="1"/>
            <p:nvPr/>
          </p:nvSpPr>
          <p:spPr>
            <a:xfrm>
              <a:off x="3702795" y="2766689"/>
              <a:ext cx="649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en-US" altLang="zh-CN" sz="4000" b="1" dirty="0">
                  <a:solidFill>
                    <a:srgbClr val="FF5292">
                      <a:alpha val="4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2.</a:t>
              </a:r>
              <a:endParaRPr kumimoji="1" lang="zh-CN" altLang="en-US" sz="4000" b="1" dirty="0">
                <a:solidFill>
                  <a:srgbClr val="FF5292">
                    <a:alpha val="4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DA45F8C-2B9E-AF83-5802-DFA0F995158C}"/>
                </a:ext>
              </a:extLst>
            </p:cNvPr>
            <p:cNvSpPr txBox="1"/>
            <p:nvPr/>
          </p:nvSpPr>
          <p:spPr>
            <a:xfrm>
              <a:off x="3702795" y="3979152"/>
              <a:ext cx="659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en-US" altLang="zh-CN" sz="4000" b="1" dirty="0">
                  <a:solidFill>
                    <a:srgbClr val="FFB000">
                      <a:alpha val="4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3.</a:t>
              </a:r>
              <a:endParaRPr kumimoji="1" lang="zh-CN" altLang="en-US" sz="4000" b="1" dirty="0">
                <a:solidFill>
                  <a:srgbClr val="FFB000">
                    <a:alpha val="4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DC44797-0DD8-065E-824C-6E9E9402BC3A}"/>
                </a:ext>
              </a:extLst>
            </p:cNvPr>
            <p:cNvSpPr txBox="1"/>
            <p:nvPr/>
          </p:nvSpPr>
          <p:spPr>
            <a:xfrm>
              <a:off x="4527287" y="161122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zh-CN" altLang="en-US" sz="3733" dirty="0">
                  <a:solidFill>
                    <a:prstClr val="black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团队介绍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7AD298A-F940-6B56-38C8-275B0D6DE188}"/>
                </a:ext>
              </a:extLst>
            </p:cNvPr>
            <p:cNvSpPr txBox="1"/>
            <p:nvPr/>
          </p:nvSpPr>
          <p:spPr>
            <a:xfrm>
              <a:off x="4527287" y="2787239"/>
              <a:ext cx="217719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zh-CN" altLang="en-US" sz="3733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作品简介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72CF867-A95E-DE10-CAE9-48D11AC63ECC}"/>
                </a:ext>
              </a:extLst>
            </p:cNvPr>
            <p:cNvSpPr txBox="1"/>
            <p:nvPr/>
          </p:nvSpPr>
          <p:spPr>
            <a:xfrm>
              <a:off x="4527287" y="399970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zh-CN" altLang="en-US" sz="3733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作品策划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2058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11503" y="269819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团队介绍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B06723-46CB-722D-ADCB-E8793385072F}"/>
              </a:ext>
            </a:extLst>
          </p:cNvPr>
          <p:cNvSpPr txBox="1"/>
          <p:nvPr/>
        </p:nvSpPr>
        <p:spPr>
          <a:xfrm>
            <a:off x="1311503" y="1274470"/>
            <a:ext cx="5619068" cy="3782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团队名称：</a:t>
            </a:r>
            <a:r>
              <a:rPr lang="en-US" altLang="zh-CN" dirty="0"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XXX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团队成员：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姓名</a:t>
            </a:r>
            <a:r>
              <a:rPr kumimoji="1"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XXX</a:t>
            </a: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，学校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姓名</a:t>
            </a:r>
            <a:r>
              <a:rPr kumimoji="1"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XXX</a:t>
            </a: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，学校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姓名</a:t>
            </a:r>
            <a:r>
              <a:rPr kumimoji="1"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XXX</a:t>
            </a: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，学校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姓名</a:t>
            </a:r>
            <a:r>
              <a:rPr kumimoji="1"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XXX</a:t>
            </a: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，学校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姓名</a:t>
            </a:r>
            <a:r>
              <a:rPr kumimoji="1"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XXX</a:t>
            </a: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，学校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指导老师：</a:t>
            </a:r>
            <a:r>
              <a:rPr kumimoji="1"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XXX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0FD1AA-74EF-C2B1-E218-F0AF440FFAD0}"/>
              </a:ext>
            </a:extLst>
          </p:cNvPr>
          <p:cNvSpPr txBox="1"/>
          <p:nvPr/>
        </p:nvSpPr>
        <p:spPr>
          <a:xfrm>
            <a:off x="5328857" y="3208167"/>
            <a:ext cx="5262979" cy="21235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注：并备注团队成员的分工，建议角色分配如下：</a:t>
            </a:r>
            <a:endParaRPr kumimoji="1" lang="en-US" altLang="zh-CN" i="1" dirty="0">
              <a:solidFill>
                <a:srgbClr val="C00000"/>
              </a:solidFill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1</a:t>
            </a: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、产品经理，</a:t>
            </a:r>
            <a:r>
              <a:rPr kumimoji="1" lang="en-US" altLang="zh-CN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1</a:t>
            </a: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人</a:t>
            </a:r>
            <a:endParaRPr kumimoji="1" lang="en-US" altLang="zh-CN" i="1" dirty="0">
              <a:solidFill>
                <a:srgbClr val="C00000"/>
              </a:solidFill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2</a:t>
            </a: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、</a:t>
            </a:r>
            <a:r>
              <a:rPr kumimoji="1" lang="en-US" altLang="zh-CN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UI</a:t>
            </a: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与交互设计，</a:t>
            </a:r>
            <a:r>
              <a:rPr kumimoji="1" lang="en-US" altLang="zh-CN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1</a:t>
            </a: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人</a:t>
            </a:r>
            <a:endParaRPr kumimoji="1" lang="en-US" altLang="zh-CN" i="1" dirty="0">
              <a:solidFill>
                <a:srgbClr val="C00000"/>
              </a:solidFill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3</a:t>
            </a: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、前端开发，</a:t>
            </a:r>
            <a:r>
              <a:rPr kumimoji="1" lang="en-US" altLang="zh-CN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1</a:t>
            </a: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人</a:t>
            </a:r>
            <a:endParaRPr kumimoji="1" lang="en-US" altLang="zh-CN" i="1" dirty="0">
              <a:solidFill>
                <a:srgbClr val="C00000"/>
              </a:solidFill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4</a:t>
            </a: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、服务端开发，</a:t>
            </a:r>
            <a:r>
              <a:rPr kumimoji="1" lang="en-US" altLang="zh-CN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1~2</a:t>
            </a: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人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259E7A87-ECC9-0E4B-9347-BAD151C85708}"/>
              </a:ext>
            </a:extLst>
          </p:cNvPr>
          <p:cNvGrpSpPr/>
          <p:nvPr/>
        </p:nvGrpSpPr>
        <p:grpSpPr>
          <a:xfrm>
            <a:off x="4632826" y="1590672"/>
            <a:ext cx="2926349" cy="3096366"/>
            <a:chOff x="3702795" y="1590672"/>
            <a:chExt cx="2926349" cy="3096366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BEE54F6-D61D-65C4-52E6-5095B0930995}"/>
                </a:ext>
              </a:extLst>
            </p:cNvPr>
            <p:cNvSpPr txBox="1"/>
            <p:nvPr/>
          </p:nvSpPr>
          <p:spPr>
            <a:xfrm>
              <a:off x="3702799" y="1590672"/>
              <a:ext cx="591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en-US" altLang="zh-CN" sz="4000" b="1" dirty="0">
                  <a:solidFill>
                    <a:srgbClr val="446FFF">
                      <a:alpha val="5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1.</a:t>
              </a:r>
              <a:endParaRPr kumimoji="1" lang="zh-CN" altLang="en-US" sz="4000" b="1" dirty="0">
                <a:solidFill>
                  <a:srgbClr val="446FFF">
                    <a:alpha val="5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BCCCC51-4355-E042-A998-074A52BC3C60}"/>
                </a:ext>
              </a:extLst>
            </p:cNvPr>
            <p:cNvSpPr txBox="1"/>
            <p:nvPr/>
          </p:nvSpPr>
          <p:spPr>
            <a:xfrm>
              <a:off x="3702795" y="2766689"/>
              <a:ext cx="649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en-US" altLang="zh-CN" sz="4000" b="1" dirty="0">
                  <a:solidFill>
                    <a:srgbClr val="FF5292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2.</a:t>
              </a:r>
              <a:endParaRPr kumimoji="1" lang="zh-CN" altLang="en-US" sz="4000" b="1" dirty="0">
                <a:solidFill>
                  <a:srgbClr val="FF5292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DA45F8C-2B9E-AF83-5802-DFA0F995158C}"/>
                </a:ext>
              </a:extLst>
            </p:cNvPr>
            <p:cNvSpPr txBox="1"/>
            <p:nvPr/>
          </p:nvSpPr>
          <p:spPr>
            <a:xfrm>
              <a:off x="3702795" y="3979152"/>
              <a:ext cx="659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en-US" altLang="zh-CN" sz="4000" b="1" dirty="0">
                  <a:solidFill>
                    <a:srgbClr val="FFB000">
                      <a:alpha val="4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3.</a:t>
              </a:r>
              <a:endParaRPr kumimoji="1" lang="zh-CN" altLang="en-US" sz="4000" b="1" dirty="0">
                <a:solidFill>
                  <a:srgbClr val="FFB000">
                    <a:alpha val="4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DC44797-0DD8-065E-824C-6E9E9402BC3A}"/>
                </a:ext>
              </a:extLst>
            </p:cNvPr>
            <p:cNvSpPr txBox="1"/>
            <p:nvPr/>
          </p:nvSpPr>
          <p:spPr>
            <a:xfrm>
              <a:off x="4527287" y="161122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zh-CN" altLang="en-US" sz="3733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团队介绍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7AD298A-F940-6B56-38C8-275B0D6DE188}"/>
                </a:ext>
              </a:extLst>
            </p:cNvPr>
            <p:cNvSpPr txBox="1"/>
            <p:nvPr/>
          </p:nvSpPr>
          <p:spPr>
            <a:xfrm>
              <a:off x="4527287" y="2787239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zh-CN" altLang="en-US" sz="3733" dirty="0">
                  <a:solidFill>
                    <a:prstClr val="black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作品简介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72CF867-A95E-DE10-CAE9-48D11AC63ECC}"/>
                </a:ext>
              </a:extLst>
            </p:cNvPr>
            <p:cNvSpPr txBox="1"/>
            <p:nvPr/>
          </p:nvSpPr>
          <p:spPr>
            <a:xfrm>
              <a:off x="4527287" y="399970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zh-CN" altLang="en-US" sz="3733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作品策划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9087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11503" y="269819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作品简介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04A228-3561-9FD2-E3ED-0684A6CDF8A9}"/>
              </a:ext>
            </a:extLst>
          </p:cNvPr>
          <p:cNvSpPr txBox="1"/>
          <p:nvPr/>
        </p:nvSpPr>
        <p:spPr>
          <a:xfrm>
            <a:off x="1020450" y="1335848"/>
            <a:ext cx="10260732" cy="1708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作品名称（</a:t>
            </a:r>
            <a:r>
              <a:rPr lang="zh-CN" altLang="en-US" dirty="0">
                <a:solidFill>
                  <a:srgbClr val="FF0000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必须</a:t>
            </a: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）：</a:t>
            </a:r>
            <a:endParaRPr lang="en-US" altLang="zh-CN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作品概述（</a:t>
            </a:r>
            <a:r>
              <a:rPr lang="en-US" altLang="zh-CN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200</a:t>
            </a:r>
            <a:r>
              <a:rPr lang="zh-CN" altLang="en-US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字左右，必须</a:t>
            </a: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：包括作品面向人群、应用场景、解决什么问题、有哪些突出创新点、包含哪些功能等。</a:t>
            </a:r>
            <a:endParaRPr lang="en-US" altLang="zh-CN" dirty="0"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作品宣传海报（</a:t>
            </a:r>
            <a:r>
              <a:rPr lang="zh-CN" altLang="en-US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必须</a:t>
            </a: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）：</a:t>
            </a:r>
            <a:endParaRPr lang="en-US" altLang="zh-CN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5940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259E7A87-ECC9-0E4B-9347-BAD151C85708}"/>
              </a:ext>
            </a:extLst>
          </p:cNvPr>
          <p:cNvGrpSpPr/>
          <p:nvPr/>
        </p:nvGrpSpPr>
        <p:grpSpPr>
          <a:xfrm>
            <a:off x="4632826" y="1590672"/>
            <a:ext cx="3001691" cy="3096366"/>
            <a:chOff x="3702795" y="1590672"/>
            <a:chExt cx="3001691" cy="3096366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BEE54F6-D61D-65C4-52E6-5095B0930995}"/>
                </a:ext>
              </a:extLst>
            </p:cNvPr>
            <p:cNvSpPr txBox="1"/>
            <p:nvPr/>
          </p:nvSpPr>
          <p:spPr>
            <a:xfrm>
              <a:off x="3702799" y="1590672"/>
              <a:ext cx="591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en-US" altLang="zh-CN" sz="4000" b="1" dirty="0">
                  <a:solidFill>
                    <a:srgbClr val="446FFF">
                      <a:alpha val="5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1.</a:t>
              </a:r>
              <a:endParaRPr kumimoji="1" lang="zh-CN" altLang="en-US" sz="4000" b="1" dirty="0">
                <a:solidFill>
                  <a:srgbClr val="446FFF">
                    <a:alpha val="5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BCCCC51-4355-E042-A998-074A52BC3C60}"/>
                </a:ext>
              </a:extLst>
            </p:cNvPr>
            <p:cNvSpPr txBox="1"/>
            <p:nvPr/>
          </p:nvSpPr>
          <p:spPr>
            <a:xfrm>
              <a:off x="3702795" y="2766689"/>
              <a:ext cx="649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en-US" altLang="zh-CN" sz="4000" b="1" dirty="0">
                  <a:solidFill>
                    <a:srgbClr val="FF5292">
                      <a:alpha val="5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2.</a:t>
              </a:r>
              <a:endParaRPr kumimoji="1" lang="zh-CN" altLang="en-US" sz="4000" b="1" dirty="0">
                <a:solidFill>
                  <a:srgbClr val="FF5292">
                    <a:alpha val="5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DA45F8C-2B9E-AF83-5802-DFA0F995158C}"/>
                </a:ext>
              </a:extLst>
            </p:cNvPr>
            <p:cNvSpPr txBox="1"/>
            <p:nvPr/>
          </p:nvSpPr>
          <p:spPr>
            <a:xfrm>
              <a:off x="3702795" y="3979152"/>
              <a:ext cx="659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en-US" altLang="zh-CN" sz="4000" b="1" dirty="0">
                  <a:solidFill>
                    <a:srgbClr val="FFB000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3.</a:t>
              </a:r>
              <a:endParaRPr kumimoji="1" lang="zh-CN" altLang="en-US" sz="4000" b="1" dirty="0">
                <a:solidFill>
                  <a:srgbClr val="FFB000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DC44797-0DD8-065E-824C-6E9E9402BC3A}"/>
                </a:ext>
              </a:extLst>
            </p:cNvPr>
            <p:cNvSpPr txBox="1"/>
            <p:nvPr/>
          </p:nvSpPr>
          <p:spPr>
            <a:xfrm>
              <a:off x="4527287" y="1611222"/>
              <a:ext cx="217719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zh-CN" altLang="en-US" sz="3733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团队简介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7AD298A-F940-6B56-38C8-275B0D6DE188}"/>
                </a:ext>
              </a:extLst>
            </p:cNvPr>
            <p:cNvSpPr txBox="1"/>
            <p:nvPr/>
          </p:nvSpPr>
          <p:spPr>
            <a:xfrm>
              <a:off x="4527287" y="2787239"/>
              <a:ext cx="217719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zh-CN" altLang="en-US" sz="3733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作品简介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72CF867-A95E-DE10-CAE9-48D11AC63ECC}"/>
                </a:ext>
              </a:extLst>
            </p:cNvPr>
            <p:cNvSpPr txBox="1"/>
            <p:nvPr/>
          </p:nvSpPr>
          <p:spPr>
            <a:xfrm>
              <a:off x="4527287" y="3999702"/>
              <a:ext cx="209223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zh-CN" altLang="en-US" sz="3733" dirty="0">
                  <a:solidFill>
                    <a:prstClr val="black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作品策划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287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作品设计理念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F93095-340F-4F22-530D-3CE88B1A8087}"/>
              </a:ext>
            </a:extLst>
          </p:cNvPr>
          <p:cNvSpPr txBox="1"/>
          <p:nvPr/>
        </p:nvSpPr>
        <p:spPr>
          <a:xfrm>
            <a:off x="1024575" y="1402551"/>
            <a:ext cx="10142850" cy="1292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核心创新点： </a:t>
            </a:r>
            <a:r>
              <a:rPr lang="zh-CN" altLang="en-US" i="1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用一两句话概括您的作品最具创新性的想法。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【</a:t>
            </a:r>
            <a:r>
              <a:rPr lang="zh-CN" altLang="en-US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必须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】</a:t>
            </a:r>
            <a:endParaRPr lang="zh-CN" altLang="en-US" i="1" dirty="0">
              <a:solidFill>
                <a:srgbClr val="FF0000"/>
              </a:solidFill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设计背景与洞察： </a:t>
            </a:r>
            <a:r>
              <a:rPr lang="zh-CN" altLang="en-US" i="1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阐述激发该作品创作背后所洞察的问题、现象或用户调研等。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【</a:t>
            </a:r>
            <a:r>
              <a:rPr lang="zh-CN" altLang="en-US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必须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】</a:t>
            </a:r>
            <a:endParaRPr lang="zh-CN" altLang="en-US" i="1" dirty="0">
              <a:solidFill>
                <a:srgbClr val="FF0000"/>
              </a:solidFill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理念贯穿性：</a:t>
            </a:r>
            <a:r>
              <a:rPr lang="zh-CN" altLang="en-US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 </a:t>
            </a:r>
            <a:r>
              <a:rPr lang="zh-CN" altLang="en-US" i="1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简要说明该理念如何指导了后续的功能流程、界面、交互等具体设计。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【</a:t>
            </a:r>
            <a:r>
              <a:rPr lang="zh-CN" altLang="en-US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必须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】</a:t>
            </a:r>
            <a:endParaRPr lang="zh-CN" altLang="en-US" i="1" dirty="0">
              <a:solidFill>
                <a:srgbClr val="FF0000"/>
              </a:solidFill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2512D4-45BC-EF75-85AF-2F2CC68EB813}"/>
              </a:ext>
            </a:extLst>
          </p:cNvPr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作品设计理念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86B303-B704-BB23-FE35-03B3218AA273}"/>
              </a:ext>
            </a:extLst>
          </p:cNvPr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产品原型设计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8DA8FC-25D2-40FD-21E1-1807624CF1B8}"/>
              </a:ext>
            </a:extLst>
          </p:cNvPr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创新点说明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3AB17D-E55F-6017-621A-AF7ED071B875}"/>
              </a:ext>
            </a:extLst>
          </p:cNvPr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前景评估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288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产品原型设计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2512D4-45BC-EF75-85AF-2F2CC68EB813}"/>
              </a:ext>
            </a:extLst>
          </p:cNvPr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作品设计理念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86B303-B704-BB23-FE35-03B3218AA273}"/>
              </a:ext>
            </a:extLst>
          </p:cNvPr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产品原型设计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8DA8FC-25D2-40FD-21E1-1807624CF1B8}"/>
              </a:ext>
            </a:extLst>
          </p:cNvPr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创新点说明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3AB17D-E55F-6017-621A-AF7ED071B875}"/>
              </a:ext>
            </a:extLst>
          </p:cNvPr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前景评估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8C3F77-3C84-F68A-5411-3F301A802CB8}"/>
              </a:ext>
            </a:extLst>
          </p:cNvPr>
          <p:cNvSpPr txBox="1"/>
          <p:nvPr/>
        </p:nvSpPr>
        <p:spPr>
          <a:xfrm>
            <a:off x="619765" y="1163877"/>
            <a:ext cx="10891518" cy="392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核心功能解读： </a:t>
            </a:r>
            <a:r>
              <a:rPr lang="zh-CN" altLang="en-US" i="1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用一两句话概括您的作品最核心的功能卖点。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【</a:t>
            </a:r>
            <a:r>
              <a:rPr lang="zh-CN" altLang="en-US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必须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】</a:t>
            </a:r>
            <a:endParaRPr lang="zh-CN" altLang="en-US" i="1" dirty="0">
              <a:solidFill>
                <a:srgbClr val="FF0000"/>
              </a:solidFill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作品的界面设计：</a:t>
            </a:r>
            <a:endParaRPr lang="en-US" altLang="zh-CN" dirty="0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（</a:t>
            </a:r>
            <a:r>
              <a:rPr lang="en-US" altLang="zh-CN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1</a:t>
            </a: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）描述整体的视觉风格（如极简、国风等）、色彩体系及其背后的理由；</a:t>
            </a:r>
            <a:r>
              <a:rPr lang="en-US" altLang="zh-CN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【</a:t>
            </a:r>
            <a:r>
              <a:rPr lang="zh-CN" altLang="en-US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必须</a:t>
            </a:r>
            <a:r>
              <a:rPr lang="en-US" altLang="zh-CN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（</a:t>
            </a:r>
            <a:r>
              <a:rPr lang="en-US" altLang="zh-CN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2</a:t>
            </a: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）关键界面展示：核心展示主页</a:t>
            </a:r>
            <a:r>
              <a:rPr lang="en-US" altLang="zh-CN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/</a:t>
            </a: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核心功能界面效果图，并配以简短说明；选择展示其他重要界面效果图，并配以简短说明。</a:t>
            </a:r>
            <a:r>
              <a:rPr lang="en-US" altLang="zh-CN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【</a:t>
            </a:r>
            <a:r>
              <a:rPr lang="zh-CN" altLang="en-US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必须</a:t>
            </a:r>
            <a:r>
              <a:rPr lang="en-US" altLang="zh-CN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】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作品的交互设计：</a:t>
            </a:r>
            <a:endParaRPr lang="en-US" altLang="zh-CN" dirty="0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（</a:t>
            </a:r>
            <a:r>
              <a:rPr lang="en-US" altLang="zh-CN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1</a:t>
            </a: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）选取</a:t>
            </a:r>
            <a:r>
              <a:rPr lang="en-US" altLang="zh-CN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1-2</a:t>
            </a: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个最核心、最具特色的用户操作流程（如：完成一个主要任务、使用一个创新功能），用图文或流程图分步说明；</a:t>
            </a:r>
            <a:r>
              <a:rPr lang="en-US" altLang="zh-CN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【</a:t>
            </a:r>
            <a:r>
              <a:rPr lang="zh-CN" altLang="en-US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必须</a:t>
            </a:r>
            <a:r>
              <a:rPr lang="en-US" altLang="zh-CN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（</a:t>
            </a:r>
            <a:r>
              <a:rPr lang="en-US" altLang="zh-CN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2</a:t>
            </a: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）重点介绍交互设计中的创新之处（如新的手势、语音交互、多模态反馈等）。</a:t>
            </a:r>
            <a:r>
              <a:rPr lang="en-US" altLang="zh-CN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【</a:t>
            </a:r>
            <a:r>
              <a:rPr lang="zh-CN" altLang="en-US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如有</a:t>
            </a:r>
            <a:r>
              <a:rPr lang="en-US" altLang="zh-CN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】</a:t>
            </a:r>
            <a:endParaRPr lang="zh-CN" altLang="en-US" sz="1600" dirty="0">
              <a:solidFill>
                <a:srgbClr val="FF0000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大模型的具体应用说明：</a:t>
            </a:r>
            <a:r>
              <a:rPr lang="zh-CN" altLang="en-US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 </a:t>
            </a:r>
            <a:r>
              <a:rPr lang="zh-CN" altLang="en-US" i="1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简要说明您的作品是如何应用大模型的。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【</a:t>
            </a:r>
            <a:r>
              <a:rPr lang="zh-CN" altLang="en-US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必须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】</a:t>
            </a:r>
            <a:endParaRPr lang="zh-CN" altLang="en-US" i="1" dirty="0">
              <a:solidFill>
                <a:srgbClr val="FF0000"/>
              </a:solidFill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9503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创新点说明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2512D4-45BC-EF75-85AF-2F2CC68EB813}"/>
              </a:ext>
            </a:extLst>
          </p:cNvPr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作品设计理念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86B303-B704-BB23-FE35-03B3218AA273}"/>
              </a:ext>
            </a:extLst>
          </p:cNvPr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产品原型设计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8DA8FC-25D2-40FD-21E1-1807624CF1B8}"/>
              </a:ext>
            </a:extLst>
          </p:cNvPr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创新点说明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3AB17D-E55F-6017-621A-AF7ED071B875}"/>
              </a:ext>
            </a:extLst>
          </p:cNvPr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前景评估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600ED4-FB33-319A-7270-1619B800B182}"/>
              </a:ext>
            </a:extLst>
          </p:cNvPr>
          <p:cNvSpPr txBox="1"/>
          <p:nvPr/>
        </p:nvSpPr>
        <p:spPr>
          <a:xfrm>
            <a:off x="1020450" y="1448479"/>
            <a:ext cx="10142850" cy="461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详细阐释您的作品的创新点，包括但不限于解决方案创新、交互创新、功能性能创新等。</a:t>
            </a:r>
            <a:r>
              <a:rPr lang="en-US" altLang="zh-CN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【</a:t>
            </a:r>
            <a:r>
              <a:rPr lang="zh-CN" altLang="en-US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必须</a:t>
            </a:r>
            <a:r>
              <a:rPr lang="en-US" altLang="zh-CN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】</a:t>
            </a:r>
            <a:endParaRPr lang="zh-CN" altLang="en-US" dirty="0">
              <a:solidFill>
                <a:srgbClr val="FF0000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0055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前景评估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2512D4-45BC-EF75-85AF-2F2CC68EB813}"/>
              </a:ext>
            </a:extLst>
          </p:cNvPr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作品设计理念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86B303-B704-BB23-FE35-03B3218AA273}"/>
              </a:ext>
            </a:extLst>
          </p:cNvPr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产品原型设计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8DA8FC-25D2-40FD-21E1-1807624CF1B8}"/>
              </a:ext>
            </a:extLst>
          </p:cNvPr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创新点说明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3AB17D-E55F-6017-621A-AF7ED071B875}"/>
              </a:ext>
            </a:extLst>
          </p:cNvPr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前景评估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1A64DE-8E34-B552-85E7-FA127561505A}"/>
              </a:ext>
            </a:extLst>
          </p:cNvPr>
          <p:cNvSpPr txBox="1"/>
          <p:nvPr/>
        </p:nvSpPr>
        <p:spPr>
          <a:xfrm>
            <a:off x="1020450" y="1555771"/>
            <a:ext cx="10142850" cy="2954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用户需求程度</a:t>
            </a:r>
            <a:r>
              <a:rPr lang="en-US" altLang="zh-CN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【</a:t>
            </a:r>
            <a:r>
              <a:rPr lang="zh-CN" altLang="en-US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必须</a:t>
            </a:r>
            <a:r>
              <a:rPr lang="en-US" altLang="zh-CN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（</a:t>
            </a:r>
            <a:r>
              <a:rPr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1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）目标用户画像：清晰描述核心目标用户，包括但不限于年龄、职业、场景等；</a:t>
            </a:r>
            <a:endParaRPr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（</a:t>
            </a:r>
            <a:r>
              <a:rPr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2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）核心痛点与需求：具体分析作品旨在解决用户的什么问题？该需求是否强烈、高频；</a:t>
            </a:r>
            <a:endParaRPr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（</a:t>
            </a:r>
            <a:r>
              <a:rPr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3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）应用场景：描述</a:t>
            </a:r>
            <a:r>
              <a:rPr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1~2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个典型的使用场景，说明作品如何融入用户生活或工作；</a:t>
            </a:r>
            <a:endParaRPr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（</a:t>
            </a:r>
            <a:r>
              <a:rPr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4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）社会价值：阐释作品可能带来的社会、环境或文化等方面的积极影响。</a:t>
            </a:r>
            <a:endParaRPr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市场欢迎程度</a:t>
            </a:r>
            <a:r>
              <a:rPr lang="en-US" altLang="zh-CN" dirty="0">
                <a:solidFill>
                  <a:srgbClr val="FF0000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【</a:t>
            </a:r>
            <a:r>
              <a:rPr lang="zh-CN" altLang="en-US" dirty="0">
                <a:solidFill>
                  <a:srgbClr val="FF0000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必须</a:t>
            </a:r>
            <a:r>
              <a:rPr lang="en-US" altLang="zh-CN" dirty="0">
                <a:solidFill>
                  <a:srgbClr val="FF0000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对比行业解决方案的优势，如功能创新性、用户体验的优势、商业模式的领先等。</a:t>
            </a:r>
            <a:endParaRPr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674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8991F0D-E559-5A34-0AE1-1E2495FE25B1}"/>
              </a:ext>
            </a:extLst>
          </p:cNvPr>
          <p:cNvSpPr txBox="1"/>
          <p:nvPr/>
        </p:nvSpPr>
        <p:spPr>
          <a:xfrm>
            <a:off x="840628" y="764091"/>
            <a:ext cx="10132541" cy="4201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作品提交说明：</a:t>
            </a:r>
            <a:endParaRPr kumimoji="1" lang="en-US" altLang="zh-CN" dirty="0">
              <a:solidFill>
                <a:srgbClr val="384FF9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>
              <a:lnSpc>
                <a:spcPct val="150000"/>
              </a:lnSpc>
            </a:pPr>
            <a:endParaRPr kumimoji="1" lang="en-US" altLang="zh-CN" dirty="0">
              <a:solidFill>
                <a:srgbClr val="384FF9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1</a:t>
            </a: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、本次大赛允许使用三方工具与三方大模型协助输出最终作品，推荐使用蓝心大模型。</a:t>
            </a:r>
            <a:endParaRPr kumimoji="1" lang="en-US" altLang="zh-CN" dirty="0">
              <a:solidFill>
                <a:srgbClr val="384FF9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2</a:t>
            </a: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、凡投稿到本次大赛的作品，请确保参赛队伍拥有投稿作品的版权、著作权等所有权。并按照</a:t>
            </a:r>
            <a:r>
              <a:rPr kumimoji="1" lang="en-US" altLang="zh-CN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《2026</a:t>
            </a: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中国高校计算机大赛</a:t>
            </a:r>
            <a:r>
              <a:rPr kumimoji="1" lang="en-US" altLang="zh-CN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-AIGC</a:t>
            </a: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创新赛</a:t>
            </a:r>
            <a:r>
              <a:rPr kumimoji="1" lang="en-US" altLang="zh-CN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-</a:t>
            </a: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参赛声明</a:t>
            </a:r>
            <a:r>
              <a:rPr kumimoji="1" lang="en-US" altLang="zh-CN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》</a:t>
            </a: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，</a:t>
            </a:r>
            <a:r>
              <a:rPr lang="zh-CN" altLang="en-US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自参赛作品提交之日起，即视为许可组委会和维沃移动通信有限公司及其关联公司</a:t>
            </a:r>
            <a:r>
              <a:rPr lang="en-US" altLang="zh-CN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(</a:t>
            </a:r>
            <a:r>
              <a:rPr lang="zh-CN" altLang="en-US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下称“</a:t>
            </a:r>
            <a:r>
              <a:rPr lang="en" altLang="zh-CN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vivo”)</a:t>
            </a:r>
            <a:r>
              <a:rPr lang="zh-CN" altLang="en-US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对参赛作品无偿永久拥有在任何渠道、平台、媒体进行发表、复制、展览、信息网络传播、展示、宣传等权利</a:t>
            </a:r>
            <a:r>
              <a:rPr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；</a:t>
            </a:r>
            <a:r>
              <a:rPr lang="zh-CN" altLang="en-US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组委会及 </a:t>
            </a:r>
            <a:r>
              <a:rPr lang="en" altLang="zh-CN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vivo </a:t>
            </a:r>
            <a:r>
              <a:rPr lang="zh-CN" altLang="en-US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会保障作者的署名权 。</a:t>
            </a:r>
            <a:endParaRPr lang="zh-CN" altLang="en-US" dirty="0">
              <a:solidFill>
                <a:srgbClr val="384FF9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在同等条件下，维沃移动通信有限公司及其关联公司拥有参赛作品的优先合作权，具体合作情况将另行协商确定。</a:t>
            </a:r>
            <a:endParaRPr lang="zh-CN" altLang="en-US" dirty="0">
              <a:solidFill>
                <a:srgbClr val="384FF9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2630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8991F0D-E559-5A34-0AE1-1E2495FE25B1}"/>
              </a:ext>
            </a:extLst>
          </p:cNvPr>
          <p:cNvSpPr txBox="1"/>
          <p:nvPr/>
        </p:nvSpPr>
        <p:spPr>
          <a:xfrm>
            <a:off x="383428" y="256091"/>
            <a:ext cx="10132541" cy="461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附：作品评分表，仅供参考</a:t>
            </a:r>
            <a:endParaRPr kumimoji="1" lang="en-US" altLang="zh-CN" dirty="0">
              <a:solidFill>
                <a:srgbClr val="384FF9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CF7A4F6-BB41-EF0B-4E51-A27EB13CF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465976"/>
              </p:ext>
            </p:extLst>
          </p:nvPr>
        </p:nvGraphicFramePr>
        <p:xfrm>
          <a:off x="610814" y="766246"/>
          <a:ext cx="10970372" cy="5842155"/>
        </p:xfrm>
        <a:graphic>
          <a:graphicData uri="http://schemas.openxmlformats.org/drawingml/2006/table">
            <a:tbl>
              <a:tblPr/>
              <a:tblGrid>
                <a:gridCol w="1971498">
                  <a:extLst>
                    <a:ext uri="{9D8B030D-6E8A-4147-A177-3AD203B41FA5}">
                      <a16:colId xmlns:a16="http://schemas.microsoft.com/office/drawing/2014/main" val="4129219995"/>
                    </a:ext>
                  </a:extLst>
                </a:gridCol>
                <a:gridCol w="1632874">
                  <a:extLst>
                    <a:ext uri="{9D8B030D-6E8A-4147-A177-3AD203B41FA5}">
                      <a16:colId xmlns:a16="http://schemas.microsoft.com/office/drawing/2014/main" val="225243130"/>
                    </a:ext>
                  </a:extLst>
                </a:gridCol>
                <a:gridCol w="7366000">
                  <a:extLst>
                    <a:ext uri="{9D8B030D-6E8A-4147-A177-3AD203B41FA5}">
                      <a16:colId xmlns:a16="http://schemas.microsoft.com/office/drawing/2014/main" val="3010596659"/>
                    </a:ext>
                  </a:extLst>
                </a:gridCol>
              </a:tblGrid>
              <a:tr h="550155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AIGC</a:t>
                      </a: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创新赛作品评分表</a:t>
                      </a: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_</a:t>
                      </a: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应用赛道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139628"/>
                  </a:ext>
                </a:extLst>
              </a:tr>
              <a:tr h="43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评分维度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评估标准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3895232"/>
                  </a:ext>
                </a:extLst>
              </a:tr>
              <a:tr h="54000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作品创新性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vivo Sans Bold" panose="02000500000000000000" pitchFamily="2" charset="-122"/>
                        <a:ea typeface="vivo Sans Bold" panose="02000500000000000000" pitchFamily="2" charset="-122"/>
                        <a:cs typeface="vivo Sans Bold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选题定位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3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从用户真实需求出发，体现对使用者体验、情感或社会价值的关注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vivo Sans" panose="02000500000000000000" pitchFamily="2" charset="-122"/>
                        <a:ea typeface="vivo Sans" panose="02000500000000000000" pitchFamily="2" charset="-122"/>
                        <a:cs typeface="vivo Sans" panose="02000500000000000000" pitchFamily="2" charset="-122"/>
                      </a:endParaRPr>
                    </a:p>
                    <a:p>
                      <a:pPr marL="285750" marR="0" indent="-285750" algn="l" defTabSz="9143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作品理念清晰完整，贯穿于整个作品的设计与实现中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vivo Sans" panose="02000500000000000000" pitchFamily="2" charset="-122"/>
                        <a:ea typeface="vivo Sans" panose="02000500000000000000" pitchFamily="2" charset="-122"/>
                        <a:cs typeface="vivo Sans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980378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 fontAlgn="ctr"/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vivo Sans Bold" panose="02000500000000000000" pitchFamily="2" charset="-122"/>
                        <a:ea typeface="vivo Sans Bold" panose="02000500000000000000" pitchFamily="2" charset="-122"/>
                        <a:cs typeface="vivo Sans Bold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产品功能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作品功能具有原创性，突破传统思维或现有解决方案，具有独特性或创新性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vivo Sans" panose="02000500000000000000" pitchFamily="2" charset="-122"/>
                        <a:ea typeface="vivo Sans" panose="02000500000000000000" pitchFamily="2" charset="-122"/>
                        <a:cs typeface="vivo Sans" panose="02000500000000000000" pitchFamily="2" charset="-122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作品功能设计清晰明确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738197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 fontAlgn="ctr"/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vivo Sans Bold" panose="02000500000000000000" pitchFamily="2" charset="-122"/>
                        <a:ea typeface="vivo Sans Bold" panose="02000500000000000000" pitchFamily="2" charset="-122"/>
                        <a:cs typeface="vivo Sans Bold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产品界面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作品界面设计完整美观，易懂易操作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550578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 fontAlgn="ctr"/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vivo Sans Bold" panose="02000500000000000000" pitchFamily="2" charset="-122"/>
                        <a:ea typeface="vivo Sans Bold" panose="02000500000000000000" pitchFamily="2" charset="-122"/>
                        <a:cs typeface="vivo Sans Bold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产品交互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作品交互设计流畅自然，符合用户习惯，流程无断点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vivo Sans" panose="02000500000000000000" pitchFamily="2" charset="-122"/>
                        <a:ea typeface="vivo Sans" panose="02000500000000000000" pitchFamily="2" charset="-122"/>
                        <a:cs typeface="vivo Sans" panose="02000500000000000000" pitchFamily="2" charset="-122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通过交互方式解决了某一痛点，或提供了新颖的操作体验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vivo Sans" panose="02000500000000000000" pitchFamily="2" charset="-122"/>
                        <a:ea typeface="vivo Sans" panose="02000500000000000000" pitchFamily="2" charset="-122"/>
                        <a:cs typeface="vivo Sans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2302788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应用价值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vivo Sans Bold" panose="02000500000000000000" pitchFamily="2" charset="-122"/>
                        <a:ea typeface="vivo Sans Bold" panose="02000500000000000000" pitchFamily="2" charset="-122"/>
                        <a:cs typeface="vivo Sans Bold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可行性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作品技术可实现性较强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vivo Sans" panose="02000500000000000000" pitchFamily="2" charset="-122"/>
                        <a:ea typeface="vivo Sans" panose="02000500000000000000" pitchFamily="2" charset="-122"/>
                        <a:cs typeface="vivo Sans" panose="02000500000000000000" pitchFamily="2" charset="-122"/>
                      </a:endParaRPr>
                    </a:p>
                    <a:p>
                      <a:pPr marL="285750" marR="0" indent="-285750" algn="l" defTabSz="9143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具备转化为实际产品、服务或应用的路径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0338055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前景评估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用户需求程度：目标用户足够广泛、痛点足够明确、使用场景真实且高频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vivo Sans" panose="02000500000000000000" pitchFamily="2" charset="-122"/>
                        <a:ea typeface="vivo Sans" panose="02000500000000000000" pitchFamily="2" charset="-122"/>
                        <a:cs typeface="vivo Sans" panose="02000500000000000000" pitchFamily="2" charset="-122"/>
                      </a:endParaRP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市场欢迎程度：具有独特优势、符合行业发展趋势等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857298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作品完成度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vivo Sans Bold" panose="02000500000000000000" pitchFamily="2" charset="-122"/>
                        <a:ea typeface="vivo Sans Bold" panose="02000500000000000000" pitchFamily="2" charset="-122"/>
                        <a:cs typeface="vivo Sans Bold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资料齐全度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按要求提交策划文档、产品原型设计以及演示</a:t>
                      </a:r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demo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664287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 fontAlgn="ctr"/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vivo Sans Bold" panose="02000500000000000000" pitchFamily="2" charset="-122"/>
                        <a:ea typeface="vivo Sans Bold" panose="02000500000000000000" pitchFamily="2" charset="-122"/>
                        <a:cs typeface="vivo Sans Bold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资料质量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提交材料的质量，包括内容完整度、丰满度、呈现的效果等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4257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大模型应用能力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vivo Sans Bold" panose="02000500000000000000" pitchFamily="2" charset="-122"/>
                        <a:ea typeface="vivo Sans Bold" panose="02000500000000000000" pitchFamily="2" charset="-122"/>
                        <a:cs typeface="vivo Sans Bold" panose="02000500000000000000" pitchFamily="2" charset="-122"/>
                      </a:endParaRPr>
                    </a:p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（复赛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/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决赛作品要求）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vivo Sans Bold" panose="02000500000000000000" pitchFamily="2" charset="-122"/>
                        <a:ea typeface="vivo Sans Bold" panose="02000500000000000000" pitchFamily="2" charset="-122"/>
                        <a:cs typeface="vivo Sans Bold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大模型应用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3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有阐释对大模型应用的场景说明</a:t>
                      </a:r>
                      <a:endParaRPr lang="en-US" altLang="zh-CN" sz="13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vivo Sans" panose="02000500000000000000" pitchFamily="2" charset="-122"/>
                        <a:ea typeface="vivo Sans" panose="02000500000000000000" pitchFamily="2" charset="-122"/>
                        <a:cs typeface="vivo Sans" panose="02000500000000000000" pitchFamily="2" charset="-122"/>
                      </a:endParaRPr>
                    </a:p>
                    <a:p>
                      <a:pPr marL="285750" marR="0" lvl="0" indent="-285750" algn="l" defTabSz="9143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可以通过</a:t>
                      </a:r>
                      <a:r>
                        <a:rPr lang="en-US" altLang="zh-CN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API</a:t>
                      </a:r>
                      <a:r>
                        <a:rPr lang="zh-CN" altLang="en-US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调用实现产品功能</a:t>
                      </a:r>
                      <a:endParaRPr lang="en-US" altLang="zh-CN" sz="13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vivo Sans" panose="02000500000000000000" pitchFamily="2" charset="-122"/>
                        <a:ea typeface="vivo Sans" panose="02000500000000000000" pitchFamily="2" charset="-122"/>
                        <a:cs typeface="vivo Sans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811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239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0DD154F0-8BBD-3C43-B52B-BD00FBD0EA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EEBA6FC-54DF-A72A-E0D7-D0C48743C322}"/>
              </a:ext>
            </a:extLst>
          </p:cNvPr>
          <p:cNvSpPr txBox="1"/>
          <p:nvPr/>
        </p:nvSpPr>
        <p:spPr>
          <a:xfrm>
            <a:off x="3975869" y="2828836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7200" dirty="0">
                <a:solidFill>
                  <a:schemeClr val="bg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感谢观看</a:t>
            </a:r>
          </a:p>
        </p:txBody>
      </p:sp>
    </p:spTree>
    <p:extLst>
      <p:ext uri="{BB962C8B-B14F-4D97-AF65-F5344CB8AC3E}">
        <p14:creationId xmlns:p14="http://schemas.microsoft.com/office/powerpoint/2010/main" val="2553126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heme/theme1.xml><?xml version="1.0" encoding="utf-8"?>
<a:theme xmlns:a="http://schemas.openxmlformats.org/drawingml/2006/main" name="Office 主题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84FF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37734</TotalTime>
  <Words>1073</Words>
  <Application>Microsoft Macintosh PowerPoint</Application>
  <PresentationFormat>宽屏</PresentationFormat>
  <Paragraphs>125</Paragraphs>
  <Slides>13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DengXian</vt:lpstr>
      <vt:lpstr>DengXian</vt:lpstr>
      <vt:lpstr>华文中宋</vt:lpstr>
      <vt:lpstr>Microsoft YaHei</vt:lpstr>
      <vt:lpstr>Microsoft YaHei</vt:lpstr>
      <vt:lpstr>系统字体常规体</vt:lpstr>
      <vt:lpstr>vivo Sans</vt:lpstr>
      <vt:lpstr>vivo Sans Bold</vt:lpstr>
      <vt:lpstr>vivo Sans Extrabold</vt:lpstr>
      <vt:lpstr>vivo Sans Medium</vt:lpstr>
      <vt:lpstr>Arial</vt:lpstr>
      <vt:lpstr>Calibri</vt:lpstr>
      <vt:lpstr>Calibri Light</vt:lpstr>
      <vt:lpstr>Gill Sans MT</vt:lpstr>
      <vt:lpstr>Wingdings</vt:lpstr>
      <vt:lpstr>Office 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mac 004</dc:creator>
  <cp:lastModifiedBy>邢金雁</cp:lastModifiedBy>
  <cp:revision>1162</cp:revision>
  <dcterms:created xsi:type="dcterms:W3CDTF">2018-12-24T08:48:41Z</dcterms:created>
  <dcterms:modified xsi:type="dcterms:W3CDTF">2026-01-21T03:01:12Z</dcterms:modified>
</cp:coreProperties>
</file>